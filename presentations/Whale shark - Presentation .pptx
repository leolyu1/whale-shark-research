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Proxima Nova"/>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roximaNova-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roximaNova-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ProximaNova-italic.fntdata"/><Relationship Id="rId6" Type="http://schemas.openxmlformats.org/officeDocument/2006/relationships/slide" Target="slides/slide1.xml"/><Relationship Id="rId18" Type="http://schemas.openxmlformats.org/officeDocument/2006/relationships/font" Target="fonts/ProximaNova-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c6f980f91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c6f980f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Good morning everyone. Today we’ll be presenting our project on shark movement modelling using state-space models. This is an ongoing project and the goal of this presentation is to walk through our current modelling framework and show some preliminary results.</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Today’s talk is structured as follows: We begin with the research questions and data, then introduce the state-space and movement persistence models. We then outline our analytical workflow, followed by visualizations and preliminary results, and conclude with current limitations and next steps.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c6f980f91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c6f980f9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We frame the project around two main questions.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First, how to infer latent whale shark movement from noisy and irregular telemetry data.</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Second, how movement persistence is associated with environmental covariates.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data consist of spatio-temporal Argos telemetry from 60 tagged whale sharks collected between 2011 and 2021.</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Observations are irregular in time and subject to heterogeneous measurement error, with locations recorded as latitude–longitude and associated Argos error classes.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These data characteristics naturally motivate a state-space modelling framework.</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b7690ccbbf_1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b7690ccbb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 NOTTTTTT MINEEEE/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To begin with, let’s first introduce the state-space model.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In our scenario for building the model, we make the true location of the shark the hidden state, and the observed location is the observation generated from the hidden state.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ab7bea8bd4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ab7bea8bd4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a:t>
            </a:r>
            <a:r>
              <a:rPr lang="en">
                <a:solidFill>
                  <a:schemeClr val="dk1"/>
                </a:solidFill>
              </a:rPr>
              <a:t>/ NOTTTTTT MINEEEE/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Let’s go through the formula for the state-space model, and specifically, introduce the move persistence model.</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Here, the move persistence model is the correlated random walk plus the time-varying persistence parameter gamma_t.</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c6077f199_3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c6077f199_3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 NOTTTTTT MINEEEE/</a:t>
            </a:r>
            <a:endParaRPr/>
          </a:p>
          <a:p>
            <a:pPr indent="0" lvl="0" marL="0" rtl="0" algn="l">
              <a:lnSpc>
                <a:spcPct val="115000"/>
              </a:lnSpc>
              <a:spcBef>
                <a:spcPts val="0"/>
              </a:spcBef>
              <a:spcAft>
                <a:spcPts val="0"/>
              </a:spcAft>
              <a:buNone/>
            </a:pPr>
            <a:r>
              <a:rPr lang="en">
                <a:solidFill>
                  <a:schemeClr val="dk1"/>
                </a:solidFill>
              </a:rPr>
              <a:t>Building on the state-space framework, we use a move persistence model, which can be viewed as an extension of the correlated random walk.</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Because gamma varies continuously over time, it provides a flexible summary of movement behaviour that can later be related to environmental covariates.</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ab7bea8bd4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ab7bea8bd4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So here I will introduce the analytic workflow to implement, in order to address our research question.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We start by assessing and cleaning the raw Argos telemetry data, focusing on irregular sampling intervals and location error.</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We then fit state-space movement models, specifically correlated random walks, to reconstruct continuous latent movement tracks. This step allows us to regularize the tracks and propagate measurement uncertainty, and we implement this using the AniMotum package in R.</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After fitting the state-space models, we perform diagnostic checks to assess model adequacy and quantify uncertainty in the reconstructed tracks.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Building on these latent tracks, we then fit the move persistence model to estimate time-varying movement persistence.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Finally, we extract the reconstructed tracks and persistence estimates into a final dataset, which we use to visualize spatial and temporal variation in movement persistence.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c6f980f91_0_2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c6f980f9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With the modelling framework in place, I’ll now move on to the results. We begin by looking at the reconstructed movement tracks for individual sharks.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b7bea8bd4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ab7bea8bd4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This figure shows the reconstructed movement tracks for individual sharks after fitting the movement persistence model. Each colour corresponds to a different individual, and tracks are reconstructed at regular 24-hour intervals using the movement persistence model.</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One immediate feature is that most reconstructed tracks are concentrated in the eastern tropical Pacific region, with relatively limited movement into higher latitudes. This spatial concentration is consistent across individuals and provides a useful reference for interpreting later persistence patterns.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During this reconstruction step, we noticed that for a small number of individuals, the predicted tracks crossed over the continent, which is biologically implausible for whale sharks. Upon further inspection, this behaviour was driven by very large temporal gaps between consecutive observations. In these cases, the model interpolated across long time intervals, leading to unrealistic trajectories.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 address this, we split the trajectories for these individuals into separate segments, treating them as independent track sections. These are labelled as sub_a and sub_b in the figure. This approach avoids imposing unsupported assumptions across long data gaps and results in reconstructed tracks that are more biologically plausible. In addition, individuals with fewer than 20 predicted locations were excluded from this visualization to ensure stable and interpretable results.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ab800f9957_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ab800f9957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figure shows representative reconstructed tracks coloured by movement persistence, gamma_sub_t.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Each panel corresponds to an individual selected using quantile-based thresholds applied to individual-level summaries of the continuous movement persistence estimates.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Selection was based on the mean and temporal variability of gamma_sub_t​ over time, in order to illustrate a range of persistence patterns from relatively stable to highly variable movement.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Colours represent the value of gamma over time, with higher values indicating more persistent, directional movement and lower values indicating more tortuous movement.</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In the high-persistence example, we see long, smooth trajectories with consistently high gamma values, whereas the low-persistence example shows more localized and irregular movement with lower gamma. The highly variable example illustrates frequent transitions between these two movement modes within the same individual. Here, we can see how changes in movement persistence correspond to differences in track geometry.</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b689296aa7_2_2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b689296aa7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a:t>
            </a:r>
            <a:r>
              <a:rPr lang="en">
                <a:solidFill>
                  <a:schemeClr val="dk1"/>
                </a:solidFill>
              </a:rPr>
              <a:t>// NOTTTTTT MINEEEE/</a:t>
            </a:r>
            <a:endParaRPr>
              <a:solidFill>
                <a:schemeClr val="dk1"/>
              </a:solidFill>
            </a:endParaRPr>
          </a:p>
          <a:p>
            <a:pPr indent="0" lvl="0" marL="0" rtl="0" algn="l">
              <a:lnSpc>
                <a:spcPct val="115000"/>
              </a:lnSpc>
              <a:spcBef>
                <a:spcPts val="0"/>
              </a:spcBef>
              <a:spcAft>
                <a:spcPts val="0"/>
              </a:spcAft>
              <a:buNone/>
            </a:pPr>
            <a:r>
              <a:rPr lang="en">
                <a:solidFill>
                  <a:schemeClr val="dk1"/>
                </a:solidFill>
              </a:rPr>
              <a:t>For this presentation, we are building the move persistence model and looking for the results of the model.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For our next presentation, we are performing the model diagnostic and how to choose difference time step for different sharks id and look for a smaller AIC when selecting the model.</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c6077f199_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ac6077f199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0450" y="1257300"/>
            <a:ext cx="8123100" cy="1588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Shark Movement Modelling using State Space Models</a:t>
            </a:r>
            <a:endParaRPr/>
          </a:p>
        </p:txBody>
      </p:sp>
      <p:sp>
        <p:nvSpPr>
          <p:cNvPr id="60" name="Google Shape;60;p13"/>
          <p:cNvSpPr txBox="1"/>
          <p:nvPr>
            <p:ph idx="1" type="subTitle"/>
          </p:nvPr>
        </p:nvSpPr>
        <p:spPr>
          <a:xfrm>
            <a:off x="510450" y="3182352"/>
            <a:ext cx="8183100" cy="183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Madelyne Zhang , Leo Lyu</a:t>
            </a:r>
            <a:br>
              <a:rPr lang="en"/>
            </a:br>
            <a:r>
              <a:rPr lang="en"/>
              <a:t>Supervisor: Vianey Leos Barajas</a:t>
            </a:r>
            <a:endParaRPr/>
          </a:p>
          <a:p>
            <a:pPr indent="0" lvl="0" marL="0" rtl="0" algn="l">
              <a:spcBef>
                <a:spcPts val="0"/>
              </a:spcBef>
              <a:spcAft>
                <a:spcPts val="0"/>
              </a:spcAft>
              <a:buNone/>
            </a:pPr>
            <a:r>
              <a:rPr lang="en" sz="1900"/>
              <a:t>University</a:t>
            </a:r>
            <a:r>
              <a:rPr lang="en" sz="1900"/>
              <a:t> of Toronto</a:t>
            </a:r>
            <a:endParaRPr sz="19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236850" y="445025"/>
            <a:ext cx="4954200" cy="507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100"/>
              <a:t>Research Question</a:t>
            </a:r>
            <a:endParaRPr sz="2100"/>
          </a:p>
        </p:txBody>
      </p:sp>
      <p:sp>
        <p:nvSpPr>
          <p:cNvPr id="66" name="Google Shape;66;p14"/>
          <p:cNvSpPr txBox="1"/>
          <p:nvPr>
            <p:ph idx="1" type="body"/>
          </p:nvPr>
        </p:nvSpPr>
        <p:spPr>
          <a:xfrm>
            <a:off x="236850" y="988925"/>
            <a:ext cx="5074800" cy="1710900"/>
          </a:xfrm>
          <a:prstGeom prst="rect">
            <a:avLst/>
          </a:prstGeom>
        </p:spPr>
        <p:txBody>
          <a:bodyPr anchorCtr="0" anchor="t" bIns="91425" lIns="91425" spcFirstLastPara="1" rIns="91425" wrap="square" tIns="91425">
            <a:normAutofit fontScale="25000" lnSpcReduction="20000"/>
          </a:bodyPr>
          <a:lstStyle/>
          <a:p>
            <a:pPr indent="-345923" lvl="0" marL="457200" rtl="0" algn="l">
              <a:spcBef>
                <a:spcPts val="0"/>
              </a:spcBef>
              <a:spcAft>
                <a:spcPts val="0"/>
              </a:spcAft>
              <a:buClr>
                <a:srgbClr val="666666"/>
              </a:buClr>
              <a:buSzPct val="100000"/>
              <a:buChar char="●"/>
            </a:pPr>
            <a:r>
              <a:rPr lang="en" sz="7390">
                <a:solidFill>
                  <a:srgbClr val="666666"/>
                </a:solidFill>
              </a:rPr>
              <a:t>How can latent </a:t>
            </a:r>
            <a:r>
              <a:rPr lang="en" sz="7390">
                <a:solidFill>
                  <a:srgbClr val="666666"/>
                </a:solidFill>
              </a:rPr>
              <a:t>whale shark movement be inferred from noisy and irregular telemetry data?</a:t>
            </a:r>
            <a:endParaRPr sz="7390">
              <a:solidFill>
                <a:srgbClr val="666666"/>
              </a:solidFill>
            </a:endParaRPr>
          </a:p>
          <a:p>
            <a:pPr indent="-345923" lvl="0" marL="457200" rtl="0" algn="l">
              <a:spcBef>
                <a:spcPts val="0"/>
              </a:spcBef>
              <a:spcAft>
                <a:spcPts val="0"/>
              </a:spcAft>
              <a:buClr>
                <a:srgbClr val="666666"/>
              </a:buClr>
              <a:buSzPct val="100000"/>
              <a:buChar char="●"/>
            </a:pPr>
            <a:r>
              <a:rPr lang="en" sz="7390">
                <a:solidFill>
                  <a:srgbClr val="666666"/>
                </a:solidFill>
              </a:rPr>
              <a:t>How is movement persistence associated with environmental covariates?</a:t>
            </a:r>
            <a:endParaRPr sz="7390">
              <a:solidFill>
                <a:srgbClr val="666666"/>
              </a:solidFill>
            </a:endParaRPr>
          </a:p>
          <a:p>
            <a:pPr indent="0" lvl="0" marL="457200" rtl="0" algn="l">
              <a:spcBef>
                <a:spcPts val="1200"/>
              </a:spcBef>
              <a:spcAft>
                <a:spcPts val="0"/>
              </a:spcAft>
              <a:buNone/>
            </a:pPr>
            <a:r>
              <a:t/>
            </a:r>
            <a:endParaRPr sz="5390">
              <a:solidFill>
                <a:srgbClr val="666666"/>
              </a:solidFill>
            </a:endParaRPr>
          </a:p>
          <a:p>
            <a:pPr indent="0" lvl="0" marL="457200" rtl="0" algn="l">
              <a:spcBef>
                <a:spcPts val="1200"/>
              </a:spcBef>
              <a:spcAft>
                <a:spcPts val="0"/>
              </a:spcAft>
              <a:buNone/>
            </a:pPr>
            <a:r>
              <a:t/>
            </a:r>
            <a:endParaRPr>
              <a:solidFill>
                <a:srgbClr val="666666"/>
              </a:solidFill>
            </a:endParaRPr>
          </a:p>
          <a:p>
            <a:pPr indent="0" lvl="0" marL="0" rtl="0" algn="l">
              <a:spcBef>
                <a:spcPts val="1200"/>
              </a:spcBef>
              <a:spcAft>
                <a:spcPts val="0"/>
              </a:spcAft>
              <a:buNone/>
            </a:pPr>
            <a:r>
              <a:t/>
            </a:r>
            <a:endParaRPr>
              <a:solidFill>
                <a:srgbClr val="666666"/>
              </a:solidFill>
            </a:endParaRPr>
          </a:p>
          <a:p>
            <a:pPr indent="0" lvl="0" marL="0" rtl="0" algn="l">
              <a:spcBef>
                <a:spcPts val="1200"/>
              </a:spcBef>
              <a:spcAft>
                <a:spcPts val="0"/>
              </a:spcAft>
              <a:buNone/>
            </a:pPr>
            <a:r>
              <a:t/>
            </a:r>
            <a:endParaRPr>
              <a:solidFill>
                <a:srgbClr val="666666"/>
              </a:solidFill>
            </a:endParaRPr>
          </a:p>
          <a:p>
            <a:pPr indent="0" lvl="0" marL="457200" rtl="0" algn="l">
              <a:spcBef>
                <a:spcPts val="1200"/>
              </a:spcBef>
              <a:spcAft>
                <a:spcPts val="0"/>
              </a:spcAft>
              <a:buNone/>
            </a:pPr>
            <a:r>
              <a:t/>
            </a:r>
            <a:endParaRPr>
              <a:solidFill>
                <a:srgbClr val="666666"/>
              </a:solidFill>
            </a:endParaRPr>
          </a:p>
          <a:p>
            <a:pPr indent="0" lvl="0" marL="457200" rtl="0" algn="l">
              <a:spcBef>
                <a:spcPts val="1200"/>
              </a:spcBef>
              <a:spcAft>
                <a:spcPts val="0"/>
              </a:spcAft>
              <a:buNone/>
            </a:pPr>
            <a:r>
              <a:t/>
            </a:r>
            <a:endParaRPr b="1" sz="1100">
              <a:solidFill>
                <a:srgbClr val="000000"/>
              </a:solidFill>
              <a:latin typeface="Arial"/>
              <a:ea typeface="Arial"/>
              <a:cs typeface="Arial"/>
              <a:sym typeface="Arial"/>
            </a:endParaRPr>
          </a:p>
          <a:p>
            <a:pPr indent="0" lvl="0" marL="457200" rtl="0" algn="l">
              <a:spcBef>
                <a:spcPts val="1200"/>
              </a:spcBef>
              <a:spcAft>
                <a:spcPts val="1200"/>
              </a:spcAft>
              <a:buNone/>
            </a:pPr>
            <a:r>
              <a:t/>
            </a:r>
            <a:endParaRPr b="1" sz="1100">
              <a:solidFill>
                <a:srgbClr val="000000"/>
              </a:solidFill>
              <a:latin typeface="Arial"/>
              <a:ea typeface="Arial"/>
              <a:cs typeface="Arial"/>
              <a:sym typeface="Arial"/>
            </a:endParaRPr>
          </a:p>
        </p:txBody>
      </p:sp>
      <p:sp>
        <p:nvSpPr>
          <p:cNvPr id="67" name="Google Shape;67;p14"/>
          <p:cNvSpPr txBox="1"/>
          <p:nvPr/>
        </p:nvSpPr>
        <p:spPr>
          <a:xfrm>
            <a:off x="252600" y="2736425"/>
            <a:ext cx="3263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dk1"/>
                </a:solidFill>
                <a:latin typeface="Proxima Nova"/>
                <a:ea typeface="Proxima Nova"/>
                <a:cs typeface="Proxima Nova"/>
                <a:sym typeface="Proxima Nova"/>
              </a:rPr>
              <a:t>Data Description</a:t>
            </a:r>
            <a:endParaRPr sz="1100">
              <a:solidFill>
                <a:schemeClr val="accent3"/>
              </a:solidFill>
              <a:latin typeface="Proxima Nova"/>
              <a:ea typeface="Proxima Nova"/>
              <a:cs typeface="Proxima Nova"/>
              <a:sym typeface="Proxima Nova"/>
            </a:endParaRPr>
          </a:p>
        </p:txBody>
      </p:sp>
      <p:sp>
        <p:nvSpPr>
          <p:cNvPr id="68" name="Google Shape;68;p14"/>
          <p:cNvSpPr txBox="1"/>
          <p:nvPr/>
        </p:nvSpPr>
        <p:spPr>
          <a:xfrm>
            <a:off x="252600" y="3448925"/>
            <a:ext cx="8638800" cy="17772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accent3"/>
              </a:buClr>
              <a:buSzPts val="1800"/>
              <a:buFont typeface="Proxima Nova"/>
              <a:buChar char="●"/>
            </a:pPr>
            <a:r>
              <a:rPr lang="en" sz="1800">
                <a:solidFill>
                  <a:schemeClr val="accent3"/>
                </a:solidFill>
                <a:latin typeface="Proxima Nova"/>
                <a:ea typeface="Proxima Nova"/>
                <a:cs typeface="Proxima Nova"/>
                <a:sym typeface="Proxima Nova"/>
              </a:rPr>
              <a:t>Spatio-temporal Argos telemetry data from 60 tagged whale sharks from (2011-2021) </a:t>
            </a:r>
            <a:endParaRPr sz="1800">
              <a:solidFill>
                <a:schemeClr val="accent3"/>
              </a:solidFill>
              <a:latin typeface="Proxima Nova"/>
              <a:ea typeface="Proxima Nova"/>
              <a:cs typeface="Proxima Nova"/>
              <a:sym typeface="Proxima Nova"/>
            </a:endParaRPr>
          </a:p>
          <a:p>
            <a:pPr indent="-342900" lvl="0" marL="457200" rtl="0" algn="l">
              <a:spcBef>
                <a:spcPts val="0"/>
              </a:spcBef>
              <a:spcAft>
                <a:spcPts val="0"/>
              </a:spcAft>
              <a:buClr>
                <a:schemeClr val="accent3"/>
              </a:buClr>
              <a:buSzPts val="1800"/>
              <a:buFont typeface="Proxima Nova"/>
              <a:buChar char="●"/>
            </a:pPr>
            <a:r>
              <a:rPr lang="en" sz="1800">
                <a:solidFill>
                  <a:schemeClr val="accent3"/>
                </a:solidFill>
                <a:latin typeface="Proxima Nova"/>
                <a:ea typeface="Proxima Nova"/>
                <a:cs typeface="Proxima Nova"/>
                <a:sym typeface="Proxima Nova"/>
              </a:rPr>
              <a:t>Irregular observation times with </a:t>
            </a:r>
            <a:r>
              <a:rPr lang="en" sz="1800">
                <a:solidFill>
                  <a:schemeClr val="accent3"/>
                </a:solidFill>
                <a:latin typeface="Proxima Nova"/>
                <a:ea typeface="Proxima Nova"/>
                <a:cs typeface="Proxima Nova"/>
                <a:sym typeface="Proxima Nova"/>
              </a:rPr>
              <a:t>heterogeneous</a:t>
            </a:r>
            <a:r>
              <a:rPr lang="en" sz="1800">
                <a:solidFill>
                  <a:schemeClr val="accent3"/>
                </a:solidFill>
                <a:latin typeface="Proxima Nova"/>
                <a:ea typeface="Proxima Nova"/>
                <a:cs typeface="Proxima Nova"/>
                <a:sym typeface="Proxima Nova"/>
              </a:rPr>
              <a:t> measurement error</a:t>
            </a:r>
            <a:endParaRPr sz="1800">
              <a:solidFill>
                <a:schemeClr val="accent3"/>
              </a:solidFill>
              <a:latin typeface="Proxima Nova"/>
              <a:ea typeface="Proxima Nova"/>
              <a:cs typeface="Proxima Nova"/>
              <a:sym typeface="Proxima Nova"/>
            </a:endParaRPr>
          </a:p>
          <a:p>
            <a:pPr indent="-342900" lvl="0" marL="457200" rtl="0" algn="l">
              <a:spcBef>
                <a:spcPts val="0"/>
              </a:spcBef>
              <a:spcAft>
                <a:spcPts val="0"/>
              </a:spcAft>
              <a:buClr>
                <a:schemeClr val="accent3"/>
              </a:buClr>
              <a:buSzPts val="1800"/>
              <a:buFont typeface="Proxima Nova"/>
              <a:buChar char="●"/>
            </a:pPr>
            <a:r>
              <a:rPr lang="en" sz="1800">
                <a:solidFill>
                  <a:schemeClr val="accent3"/>
                </a:solidFill>
                <a:latin typeface="Proxima Nova"/>
                <a:ea typeface="Proxima Nova"/>
                <a:cs typeface="Proxima Nova"/>
                <a:sym typeface="Proxima Nova"/>
              </a:rPr>
              <a:t>Locations recorded as latitude-longitude with Argos Error classes</a:t>
            </a:r>
            <a:endParaRPr sz="1800">
              <a:solidFill>
                <a:schemeClr val="accent3"/>
              </a:solidFill>
              <a:latin typeface="Proxima Nova"/>
              <a:ea typeface="Proxima Nova"/>
              <a:cs typeface="Proxima Nova"/>
              <a:sym typeface="Proxima Nova"/>
            </a:endParaRPr>
          </a:p>
        </p:txBody>
      </p:sp>
      <p:pic>
        <p:nvPicPr>
          <p:cNvPr id="69" name="Google Shape;69;p14" title="whale sharks _3.jpeg"/>
          <p:cNvPicPr preferRelativeResize="0"/>
          <p:nvPr/>
        </p:nvPicPr>
        <p:blipFill>
          <a:blip r:embed="rId3">
            <a:alphaModFix/>
          </a:blip>
          <a:stretch>
            <a:fillRect/>
          </a:stretch>
        </p:blipFill>
        <p:spPr>
          <a:xfrm>
            <a:off x="5504650" y="622700"/>
            <a:ext cx="3371000" cy="231852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3270525"/>
            <a:ext cx="8520600" cy="603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State-Space Models (SSM)?</a:t>
            </a:r>
            <a:endParaRPr/>
          </a:p>
        </p:txBody>
      </p:sp>
      <p:sp>
        <p:nvSpPr>
          <p:cNvPr id="75" name="Google Shape;75;p15"/>
          <p:cNvSpPr txBox="1"/>
          <p:nvPr>
            <p:ph idx="1" type="body"/>
          </p:nvPr>
        </p:nvSpPr>
        <p:spPr>
          <a:xfrm>
            <a:off x="360150" y="3939525"/>
            <a:ext cx="7251000" cy="1334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Observed </a:t>
            </a:r>
            <a:r>
              <a:rPr lang="en"/>
              <a:t>tracking</a:t>
            </a:r>
            <a:r>
              <a:rPr lang="en"/>
              <a:t> locations are noisy and incomplete  </a:t>
            </a:r>
            <a:endParaRPr/>
          </a:p>
          <a:p>
            <a:pPr indent="-342900" lvl="0" marL="457200" rtl="0" algn="l">
              <a:spcBef>
                <a:spcPts val="0"/>
              </a:spcBef>
              <a:spcAft>
                <a:spcPts val="0"/>
              </a:spcAft>
              <a:buSzPts val="1800"/>
              <a:buChar char="●"/>
            </a:pPr>
            <a:r>
              <a:rPr lang="en"/>
              <a:t>True animal movement occurs continuously in tim</a:t>
            </a:r>
            <a:r>
              <a:rPr lang="en"/>
              <a:t>e</a:t>
            </a:r>
            <a:endParaRPr/>
          </a:p>
          <a:p>
            <a:pPr indent="0" lvl="0" marL="457200" rtl="0" algn="l">
              <a:spcBef>
                <a:spcPts val="1200"/>
              </a:spcBef>
              <a:spcAft>
                <a:spcPts val="1200"/>
              </a:spcAft>
              <a:buNone/>
            </a:pPr>
            <a:r>
              <a:t/>
            </a:r>
            <a:endParaRPr/>
          </a:p>
        </p:txBody>
      </p:sp>
      <p:sp>
        <p:nvSpPr>
          <p:cNvPr id="76" name="Google Shape;76;p15"/>
          <p:cNvSpPr txBox="1"/>
          <p:nvPr/>
        </p:nvSpPr>
        <p:spPr>
          <a:xfrm>
            <a:off x="279000" y="386150"/>
            <a:ext cx="8586000" cy="71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chemeClr val="dk1"/>
                </a:solidFill>
                <a:latin typeface="Proxima Nova"/>
                <a:ea typeface="Proxima Nova"/>
                <a:cs typeface="Proxima Nova"/>
                <a:sym typeface="Proxima Nova"/>
              </a:rPr>
              <a:t>State Space Model (SSM)</a:t>
            </a:r>
            <a:endParaRPr sz="2500">
              <a:solidFill>
                <a:schemeClr val="dk1"/>
              </a:solidFill>
              <a:latin typeface="Proxima Nova"/>
              <a:ea typeface="Proxima Nova"/>
              <a:cs typeface="Proxima Nova"/>
              <a:sym typeface="Proxima Nova"/>
            </a:endParaRPr>
          </a:p>
        </p:txBody>
      </p:sp>
      <p:sp>
        <p:nvSpPr>
          <p:cNvPr id="77" name="Google Shape;77;p15"/>
          <p:cNvSpPr txBox="1"/>
          <p:nvPr/>
        </p:nvSpPr>
        <p:spPr>
          <a:xfrm>
            <a:off x="279000" y="1059075"/>
            <a:ext cx="8423700" cy="2298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accent3"/>
              </a:buClr>
              <a:buSzPts val="1800"/>
              <a:buFont typeface="Proxima Nova"/>
              <a:buChar char="●"/>
            </a:pPr>
            <a:r>
              <a:rPr lang="en" sz="1800">
                <a:solidFill>
                  <a:schemeClr val="accent3"/>
                </a:solidFill>
                <a:latin typeface="Proxima Nova"/>
                <a:ea typeface="Proxima Nova"/>
                <a:cs typeface="Proxima Nova"/>
                <a:sym typeface="Proxima Nova"/>
              </a:rPr>
              <a:t>SSM (State-Space Model) deal with time-series data with hidden “true states” :</a:t>
            </a:r>
            <a:endParaRPr sz="1800">
              <a:solidFill>
                <a:schemeClr val="accent3"/>
              </a:solidFill>
              <a:latin typeface="Proxima Nova"/>
              <a:ea typeface="Proxima Nova"/>
              <a:cs typeface="Proxima Nova"/>
              <a:sym typeface="Proxima Nova"/>
            </a:endParaRPr>
          </a:p>
          <a:p>
            <a:pPr indent="-342900" lvl="1" marL="914400" rtl="0" algn="l">
              <a:spcBef>
                <a:spcPts val="0"/>
              </a:spcBef>
              <a:spcAft>
                <a:spcPts val="0"/>
              </a:spcAft>
              <a:buClr>
                <a:schemeClr val="accent3"/>
              </a:buClr>
              <a:buSzPts val="1800"/>
              <a:buFont typeface="Proxima Nova"/>
              <a:buChar char="○"/>
            </a:pPr>
            <a:r>
              <a:rPr lang="en" sz="1800">
                <a:solidFill>
                  <a:schemeClr val="accent3"/>
                </a:solidFill>
                <a:latin typeface="Proxima Nova"/>
                <a:ea typeface="Proxima Nova"/>
                <a:cs typeface="Proxima Nova"/>
                <a:sym typeface="Proxima Nova"/>
              </a:rPr>
              <a:t>State </a:t>
            </a:r>
            <a:r>
              <a:rPr lang="en" sz="1800">
                <a:solidFill>
                  <a:schemeClr val="accent3"/>
                </a:solidFill>
                <a:latin typeface="Proxima Nova"/>
                <a:ea typeface="Proxima Nova"/>
                <a:cs typeface="Proxima Nova"/>
                <a:sym typeface="Proxima Nova"/>
              </a:rPr>
              <a:t>model: </a:t>
            </a:r>
            <a:r>
              <a:rPr lang="en" sz="1800">
                <a:solidFill>
                  <a:schemeClr val="accent3"/>
                </a:solidFill>
                <a:latin typeface="Proxima Nova"/>
                <a:ea typeface="Proxima Nova"/>
                <a:cs typeface="Proxima Nova"/>
                <a:sym typeface="Proxima Nova"/>
              </a:rPr>
              <a:t>how true system changes over time (true position of sharks).</a:t>
            </a:r>
            <a:endParaRPr sz="1800">
              <a:solidFill>
                <a:schemeClr val="accent3"/>
              </a:solidFill>
              <a:latin typeface="Proxima Nova"/>
              <a:ea typeface="Proxima Nova"/>
              <a:cs typeface="Proxima Nova"/>
              <a:sym typeface="Proxima Nova"/>
            </a:endParaRPr>
          </a:p>
          <a:p>
            <a:pPr indent="-342900" lvl="1" marL="914400" rtl="0" algn="l">
              <a:spcBef>
                <a:spcPts val="0"/>
              </a:spcBef>
              <a:spcAft>
                <a:spcPts val="0"/>
              </a:spcAft>
              <a:buClr>
                <a:schemeClr val="accent3"/>
              </a:buClr>
              <a:buSzPts val="1800"/>
              <a:buFont typeface="Proxima Nova"/>
              <a:buChar char="○"/>
            </a:pPr>
            <a:r>
              <a:rPr lang="en" sz="1800">
                <a:solidFill>
                  <a:schemeClr val="accent3"/>
                </a:solidFill>
                <a:latin typeface="Proxima Nova"/>
                <a:ea typeface="Proxima Nova"/>
                <a:cs typeface="Proxima Nova"/>
                <a:sym typeface="Proxima Nova"/>
              </a:rPr>
              <a:t>Observation model: how the data are generated from the true state, with measurement error </a:t>
            </a:r>
            <a:endParaRPr sz="1800">
              <a:solidFill>
                <a:schemeClr val="accent3"/>
              </a:solidFill>
              <a:latin typeface="Proxima Nova"/>
              <a:ea typeface="Proxima Nova"/>
              <a:cs typeface="Proxima Nova"/>
              <a:sym typeface="Proxima Nova"/>
            </a:endParaRPr>
          </a:p>
          <a:p>
            <a:pPr indent="0" lvl="0" marL="914400" rtl="0" algn="l">
              <a:spcBef>
                <a:spcPts val="0"/>
              </a:spcBef>
              <a:spcAft>
                <a:spcPts val="0"/>
              </a:spcAft>
              <a:buNone/>
            </a:pPr>
            <a:r>
              <a:t/>
            </a:r>
            <a:endParaRPr sz="1800">
              <a:solidFill>
                <a:schemeClr val="accent3"/>
              </a:solidFill>
              <a:latin typeface="Proxima Nova"/>
              <a:ea typeface="Proxima Nova"/>
              <a:cs typeface="Proxima Nova"/>
              <a:sym typeface="Proxima Nova"/>
            </a:endParaRPr>
          </a:p>
          <a:p>
            <a:pPr indent="-317500" lvl="0" marL="457200" rtl="0" algn="l">
              <a:spcBef>
                <a:spcPts val="0"/>
              </a:spcBef>
              <a:spcAft>
                <a:spcPts val="0"/>
              </a:spcAft>
              <a:buClr>
                <a:schemeClr val="accent3"/>
              </a:buClr>
              <a:buSzPts val="1400"/>
              <a:buFont typeface="Proxima Nova"/>
              <a:buChar char="●"/>
            </a:pPr>
            <a:r>
              <a:rPr lang="en" sz="1800">
                <a:solidFill>
                  <a:schemeClr val="accent3"/>
                </a:solidFill>
                <a:latin typeface="Proxima Nova"/>
                <a:ea typeface="Proxima Nova"/>
                <a:cs typeface="Proxima Nova"/>
                <a:sym typeface="Proxima Nova"/>
              </a:rPr>
              <a:t>To estimate the hidden true states and uncertainty, using noisy observations</a:t>
            </a:r>
            <a:r>
              <a:rPr lang="en" sz="1600">
                <a:solidFill>
                  <a:schemeClr val="accent3"/>
                </a:solidFill>
                <a:latin typeface="Proxima Nova"/>
                <a:ea typeface="Proxima Nova"/>
                <a:cs typeface="Proxima Nova"/>
                <a:sym typeface="Proxima Nova"/>
              </a:rPr>
              <a:t>.</a:t>
            </a:r>
            <a:endParaRPr sz="1600">
              <a:solidFill>
                <a:schemeClr val="accent3"/>
              </a:solidFill>
              <a:latin typeface="Proxima Nova"/>
              <a:ea typeface="Proxima Nova"/>
              <a:cs typeface="Proxima Nova"/>
              <a:sym typeface="Proxima Nov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4694875" y="766475"/>
            <a:ext cx="4206600" cy="1893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 Move </a:t>
            </a:r>
            <a:r>
              <a:rPr lang="en">
                <a:solidFill>
                  <a:schemeClr val="lt1"/>
                </a:solidFill>
              </a:rPr>
              <a:t>Persistence</a:t>
            </a:r>
            <a:r>
              <a:rPr lang="en">
                <a:solidFill>
                  <a:schemeClr val="lt1"/>
                </a:solidFill>
              </a:rPr>
              <a:t> </a:t>
            </a:r>
            <a:r>
              <a:rPr lang="en">
                <a:solidFill>
                  <a:schemeClr val="lt1"/>
                </a:solidFill>
              </a:rPr>
              <a:t>Model </a:t>
            </a:r>
            <a:r>
              <a:rPr lang="en">
                <a:solidFill>
                  <a:schemeClr val="lt1"/>
                </a:solidFill>
              </a:rPr>
              <a:t>(MPM)</a:t>
            </a:r>
            <a:endParaRPr>
              <a:solidFill>
                <a:schemeClr val="lt1"/>
              </a:solidFill>
            </a:endParaRPr>
          </a:p>
        </p:txBody>
      </p:sp>
      <p:sp>
        <p:nvSpPr>
          <p:cNvPr id="83" name="Google Shape;83;p16"/>
          <p:cNvSpPr txBox="1"/>
          <p:nvPr>
            <p:ph idx="1" type="subTitle"/>
          </p:nvPr>
        </p:nvSpPr>
        <p:spPr>
          <a:xfrm>
            <a:off x="4856225" y="2964563"/>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000">
                <a:solidFill>
                  <a:schemeClr val="lt1"/>
                </a:solidFill>
              </a:rPr>
              <a:t>MPM is a specific state-space Model that </a:t>
            </a:r>
            <a:r>
              <a:rPr lang="en" sz="2000">
                <a:solidFill>
                  <a:schemeClr val="lt1"/>
                </a:solidFill>
              </a:rPr>
              <a:t>parametrizes movement persistence</a:t>
            </a:r>
            <a:r>
              <a:rPr lang="en" sz="2000">
                <a:solidFill>
                  <a:schemeClr val="lt1"/>
                </a:solidFill>
              </a:rPr>
              <a:t> </a:t>
            </a:r>
            <a:endParaRPr sz="2000">
              <a:solidFill>
                <a:schemeClr val="lt1"/>
              </a:solidFill>
            </a:endParaRPr>
          </a:p>
        </p:txBody>
      </p:sp>
      <p:pic>
        <p:nvPicPr>
          <p:cNvPr id="84" name="Google Shape;84;p16" title="ChatGPT Image Jan 12, 2026, 02_33_26 PM.png"/>
          <p:cNvPicPr preferRelativeResize="0"/>
          <p:nvPr/>
        </p:nvPicPr>
        <p:blipFill>
          <a:blip r:embed="rId3">
            <a:alphaModFix/>
          </a:blip>
          <a:stretch>
            <a:fillRect/>
          </a:stretch>
        </p:blipFill>
        <p:spPr>
          <a:xfrm>
            <a:off x="417650" y="766475"/>
            <a:ext cx="3932475" cy="2621650"/>
          </a:xfrm>
          <a:prstGeom prst="rect">
            <a:avLst/>
          </a:prstGeom>
          <a:noFill/>
          <a:ln>
            <a:noFill/>
          </a:ln>
        </p:spPr>
      </p:pic>
      <p:sp>
        <p:nvSpPr>
          <p:cNvPr id="85" name="Google Shape;85;p16"/>
          <p:cNvSpPr txBox="1"/>
          <p:nvPr/>
        </p:nvSpPr>
        <p:spPr>
          <a:xfrm>
            <a:off x="168075" y="289125"/>
            <a:ext cx="2171700" cy="4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3"/>
                </a:solidFill>
                <a:latin typeface="Proxima Nova"/>
                <a:ea typeface="Proxima Nova"/>
                <a:cs typeface="Proxima Nova"/>
                <a:sym typeface="Proxima Nova"/>
              </a:rPr>
              <a:t>State Space Model:  </a:t>
            </a:r>
            <a:endParaRPr sz="1800">
              <a:solidFill>
                <a:schemeClr val="accent3"/>
              </a:solidFill>
              <a:latin typeface="Proxima Nova"/>
              <a:ea typeface="Proxima Nova"/>
              <a:cs typeface="Proxima Nova"/>
              <a:sym typeface="Proxima Nova"/>
            </a:endParaRPr>
          </a:p>
        </p:txBody>
      </p:sp>
      <p:sp>
        <p:nvSpPr>
          <p:cNvPr id="86" name="Google Shape;86;p16"/>
          <p:cNvSpPr txBox="1"/>
          <p:nvPr/>
        </p:nvSpPr>
        <p:spPr>
          <a:xfrm>
            <a:off x="292425" y="3590375"/>
            <a:ext cx="3277800" cy="3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3"/>
                </a:solidFill>
                <a:latin typeface="Proxima Nova"/>
                <a:ea typeface="Proxima Nova"/>
                <a:cs typeface="Proxima Nova"/>
                <a:sym typeface="Proxima Nova"/>
              </a:rPr>
              <a:t>Move Persistence Model </a:t>
            </a:r>
            <a:endParaRPr sz="1800">
              <a:solidFill>
                <a:schemeClr val="accent3"/>
              </a:solidFill>
              <a:latin typeface="Proxima Nova"/>
              <a:ea typeface="Proxima Nova"/>
              <a:cs typeface="Proxima Nova"/>
              <a:sym typeface="Proxima Nova"/>
            </a:endParaRPr>
          </a:p>
        </p:txBody>
      </p:sp>
      <p:sp>
        <p:nvSpPr>
          <p:cNvPr id="87" name="Google Shape;87;p16"/>
          <p:cNvSpPr txBox="1"/>
          <p:nvPr/>
        </p:nvSpPr>
        <p:spPr>
          <a:xfrm>
            <a:off x="838800" y="4054300"/>
            <a:ext cx="2841600" cy="5178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3"/>
                </a:solidFill>
                <a:latin typeface="Proxima Nova"/>
                <a:ea typeface="Proxima Nova"/>
                <a:cs typeface="Proxima Nova"/>
                <a:sym typeface="Proxima Nova"/>
              </a:rPr>
              <a:t>vₜ = γₜvₜ₋₁ + ηₜ , γₜ ∈ (0, 1)</a:t>
            </a:r>
            <a:endParaRPr sz="1800">
              <a:solidFill>
                <a:schemeClr val="accent3"/>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340425" y="486125"/>
            <a:ext cx="4433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Move Persistence Model</a:t>
            </a:r>
            <a:endParaRPr/>
          </a:p>
        </p:txBody>
      </p:sp>
      <p:sp>
        <p:nvSpPr>
          <p:cNvPr id="93" name="Google Shape;93;p17"/>
          <p:cNvSpPr txBox="1"/>
          <p:nvPr/>
        </p:nvSpPr>
        <p:spPr>
          <a:xfrm>
            <a:off x="215450" y="1222400"/>
            <a:ext cx="7542600" cy="13380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Clr>
                <a:schemeClr val="accent3"/>
              </a:buClr>
              <a:buSzPts val="2200"/>
              <a:buFont typeface="Proxima Nova"/>
              <a:buChar char="●"/>
            </a:pPr>
            <a:r>
              <a:rPr lang="en" sz="2200">
                <a:solidFill>
                  <a:schemeClr val="accent3"/>
                </a:solidFill>
                <a:latin typeface="Proxima Nova"/>
                <a:ea typeface="Proxima Nova"/>
                <a:cs typeface="Proxima Nova"/>
                <a:sym typeface="Proxima Nova"/>
              </a:rPr>
              <a:t>Extension of correlated random </a:t>
            </a:r>
            <a:r>
              <a:rPr lang="en" sz="2200">
                <a:solidFill>
                  <a:schemeClr val="accent3"/>
                </a:solidFill>
                <a:latin typeface="Proxima Nova"/>
                <a:ea typeface="Proxima Nova"/>
                <a:cs typeface="Proxima Nova"/>
                <a:sym typeface="Proxima Nova"/>
              </a:rPr>
              <a:t>walk</a:t>
            </a:r>
            <a:r>
              <a:rPr lang="en" sz="2200">
                <a:solidFill>
                  <a:schemeClr val="accent3"/>
                </a:solidFill>
                <a:latin typeface="Proxima Nova"/>
                <a:ea typeface="Proxima Nova"/>
                <a:cs typeface="Proxima Nova"/>
                <a:sym typeface="Proxima Nova"/>
              </a:rPr>
              <a:t> (CRW)</a:t>
            </a:r>
            <a:endParaRPr sz="2200">
              <a:solidFill>
                <a:schemeClr val="accent3"/>
              </a:solidFill>
              <a:latin typeface="Proxima Nova"/>
              <a:ea typeface="Proxima Nova"/>
              <a:cs typeface="Proxima Nova"/>
              <a:sym typeface="Proxima Nova"/>
            </a:endParaRPr>
          </a:p>
          <a:p>
            <a:pPr indent="-368300" lvl="0" marL="457200" rtl="0" algn="l">
              <a:spcBef>
                <a:spcPts val="0"/>
              </a:spcBef>
              <a:spcAft>
                <a:spcPts val="0"/>
              </a:spcAft>
              <a:buClr>
                <a:schemeClr val="accent3"/>
              </a:buClr>
              <a:buSzPts val="2200"/>
              <a:buFont typeface="Proxima Nova"/>
              <a:buChar char="●"/>
            </a:pPr>
            <a:r>
              <a:rPr lang="en" sz="2200">
                <a:solidFill>
                  <a:schemeClr val="accent3"/>
                </a:solidFill>
                <a:latin typeface="Proxima Nova"/>
                <a:ea typeface="Proxima Nova"/>
                <a:cs typeface="Proxima Nova"/>
                <a:sym typeface="Proxima Nova"/>
              </a:rPr>
              <a:t>Time varying movement persistence</a:t>
            </a:r>
            <a:endParaRPr sz="2200">
              <a:solidFill>
                <a:schemeClr val="accent3"/>
              </a:solidFill>
              <a:latin typeface="Proxima Nova"/>
              <a:ea typeface="Proxima Nova"/>
              <a:cs typeface="Proxima Nova"/>
              <a:sym typeface="Proxima Nova"/>
            </a:endParaRPr>
          </a:p>
          <a:p>
            <a:pPr indent="-368300" lvl="0" marL="457200" rtl="0" algn="l">
              <a:spcBef>
                <a:spcPts val="0"/>
              </a:spcBef>
              <a:spcAft>
                <a:spcPts val="0"/>
              </a:spcAft>
              <a:buClr>
                <a:schemeClr val="accent3"/>
              </a:buClr>
              <a:buSzPts val="2200"/>
              <a:buFont typeface="Proxima Nova"/>
              <a:buChar char="●"/>
            </a:pPr>
            <a:r>
              <a:rPr lang="en" sz="2200">
                <a:solidFill>
                  <a:schemeClr val="accent3"/>
                </a:solidFill>
                <a:latin typeface="Proxima Nova"/>
                <a:ea typeface="Proxima Nova"/>
                <a:cs typeface="Proxima Nova"/>
                <a:sym typeface="Proxima Nova"/>
              </a:rPr>
              <a:t>Behavior modelled as a </a:t>
            </a:r>
            <a:r>
              <a:rPr lang="en" sz="2200">
                <a:solidFill>
                  <a:schemeClr val="accent3"/>
                </a:solidFill>
                <a:latin typeface="Proxima Nova"/>
                <a:ea typeface="Proxima Nova"/>
                <a:cs typeface="Proxima Nova"/>
                <a:sym typeface="Proxima Nova"/>
              </a:rPr>
              <a:t>continuous</a:t>
            </a:r>
            <a:r>
              <a:rPr lang="en" sz="2200">
                <a:solidFill>
                  <a:schemeClr val="accent3"/>
                </a:solidFill>
                <a:latin typeface="Proxima Nova"/>
                <a:ea typeface="Proxima Nova"/>
                <a:cs typeface="Proxima Nova"/>
                <a:sym typeface="Proxima Nova"/>
              </a:rPr>
              <a:t> process</a:t>
            </a:r>
            <a:endParaRPr sz="2200">
              <a:solidFill>
                <a:schemeClr val="accent3"/>
              </a:solidFill>
              <a:latin typeface="Proxima Nova"/>
              <a:ea typeface="Proxima Nova"/>
              <a:cs typeface="Proxima Nova"/>
              <a:sym typeface="Proxima Nova"/>
            </a:endParaRPr>
          </a:p>
        </p:txBody>
      </p:sp>
      <p:sp>
        <p:nvSpPr>
          <p:cNvPr id="94" name="Google Shape;94;p17"/>
          <p:cNvSpPr txBox="1"/>
          <p:nvPr/>
        </p:nvSpPr>
        <p:spPr>
          <a:xfrm>
            <a:off x="215450" y="3436225"/>
            <a:ext cx="5938800" cy="13380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accent3"/>
              </a:buClr>
              <a:buSzPts val="1800"/>
              <a:buFont typeface="Proxima Nova"/>
              <a:buChar char="●"/>
            </a:pPr>
            <a:r>
              <a:rPr lang="en" sz="1800">
                <a:solidFill>
                  <a:schemeClr val="accent3"/>
                </a:solidFill>
                <a:latin typeface="Proxima Nova"/>
                <a:ea typeface="Proxima Nova"/>
                <a:cs typeface="Proxima Nova"/>
                <a:sym typeface="Proxima Nova"/>
              </a:rPr>
              <a:t>γₜ∈(0,1)</a:t>
            </a:r>
            <a:endParaRPr sz="1800">
              <a:solidFill>
                <a:schemeClr val="accent3"/>
              </a:solidFill>
              <a:latin typeface="Proxima Nova"/>
              <a:ea typeface="Proxima Nova"/>
              <a:cs typeface="Proxima Nova"/>
              <a:sym typeface="Proxima Nova"/>
            </a:endParaRPr>
          </a:p>
          <a:p>
            <a:pPr indent="-342900" lvl="0" marL="457200" rtl="0" algn="l">
              <a:spcBef>
                <a:spcPts val="0"/>
              </a:spcBef>
              <a:spcAft>
                <a:spcPts val="0"/>
              </a:spcAft>
              <a:buClr>
                <a:schemeClr val="accent3"/>
              </a:buClr>
              <a:buSzPts val="1800"/>
              <a:buFont typeface="Proxima Nova"/>
              <a:buChar char="●"/>
            </a:pPr>
            <a:r>
              <a:rPr lang="en" sz="1800">
                <a:solidFill>
                  <a:schemeClr val="accent3"/>
                </a:solidFill>
                <a:latin typeface="Proxima Nova"/>
                <a:ea typeface="Proxima Nova"/>
                <a:cs typeface="Proxima Nova"/>
                <a:sym typeface="Proxima Nova"/>
              </a:rPr>
              <a:t>Low persistence: zig-zag, tortuous movement</a:t>
            </a:r>
            <a:endParaRPr sz="1800">
              <a:solidFill>
                <a:schemeClr val="accent3"/>
              </a:solidFill>
              <a:latin typeface="Proxima Nova"/>
              <a:ea typeface="Proxima Nova"/>
              <a:cs typeface="Proxima Nova"/>
              <a:sym typeface="Proxima Nova"/>
            </a:endParaRPr>
          </a:p>
          <a:p>
            <a:pPr indent="-342900" lvl="0" marL="457200" rtl="0" algn="l">
              <a:spcBef>
                <a:spcPts val="0"/>
              </a:spcBef>
              <a:spcAft>
                <a:spcPts val="0"/>
              </a:spcAft>
              <a:buClr>
                <a:schemeClr val="accent3"/>
              </a:buClr>
              <a:buSzPts val="1800"/>
              <a:buFont typeface="Proxima Nova"/>
              <a:buChar char="●"/>
            </a:pPr>
            <a:r>
              <a:rPr lang="en" sz="1800">
                <a:solidFill>
                  <a:schemeClr val="accent3"/>
                </a:solidFill>
                <a:latin typeface="Proxima Nova"/>
                <a:ea typeface="Proxima Nova"/>
                <a:cs typeface="Proxima Nova"/>
                <a:sym typeface="Proxima Nova"/>
              </a:rPr>
              <a:t>High persistence: straight, directed movement </a:t>
            </a:r>
            <a:endParaRPr sz="1800">
              <a:solidFill>
                <a:schemeClr val="accent3"/>
              </a:solidFill>
              <a:latin typeface="Proxima Nova"/>
              <a:ea typeface="Proxima Nova"/>
              <a:cs typeface="Proxima Nova"/>
              <a:sym typeface="Proxima Nova"/>
            </a:endParaRPr>
          </a:p>
          <a:p>
            <a:pPr indent="-342900" lvl="0" marL="457200" rtl="0" algn="l">
              <a:spcBef>
                <a:spcPts val="0"/>
              </a:spcBef>
              <a:spcAft>
                <a:spcPts val="0"/>
              </a:spcAft>
              <a:buClr>
                <a:schemeClr val="accent3"/>
              </a:buClr>
              <a:buSzPts val="1800"/>
              <a:buFont typeface="Proxima Nova"/>
              <a:buChar char="●"/>
            </a:pPr>
            <a:r>
              <a:rPr lang="en" sz="1800">
                <a:solidFill>
                  <a:schemeClr val="accent3"/>
                </a:solidFill>
                <a:latin typeface="Proxima Nova"/>
                <a:ea typeface="Proxima Nova"/>
                <a:cs typeface="Proxima Nova"/>
                <a:sym typeface="Proxima Nova"/>
              </a:rPr>
              <a:t>Continuous variation over time, not discrete states</a:t>
            </a:r>
            <a:endParaRPr sz="1800">
              <a:solidFill>
                <a:schemeClr val="accent3"/>
              </a:solidFill>
              <a:latin typeface="Proxima Nova"/>
              <a:ea typeface="Proxima Nova"/>
              <a:cs typeface="Proxima Nova"/>
              <a:sym typeface="Proxima Nova"/>
            </a:endParaRPr>
          </a:p>
        </p:txBody>
      </p:sp>
      <p:sp>
        <p:nvSpPr>
          <p:cNvPr id="95" name="Google Shape;95;p17"/>
          <p:cNvSpPr txBox="1"/>
          <p:nvPr/>
        </p:nvSpPr>
        <p:spPr>
          <a:xfrm>
            <a:off x="340425" y="2829825"/>
            <a:ext cx="5938800" cy="76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chemeClr val="dk1"/>
                </a:solidFill>
                <a:latin typeface="Proxima Nova"/>
                <a:ea typeface="Proxima Nova"/>
                <a:cs typeface="Proxima Nova"/>
                <a:sym typeface="Proxima Nova"/>
              </a:rPr>
              <a:t>Movement Persistence Parameter γₜ</a:t>
            </a:r>
            <a:endParaRPr sz="2100">
              <a:solidFill>
                <a:schemeClr val="dk1"/>
              </a:solidFill>
              <a:latin typeface="Proxima Nova"/>
              <a:ea typeface="Proxima Nova"/>
              <a:cs typeface="Proxima Nova"/>
              <a:sym typeface="Proxima Nov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Analytical Workflow</a:t>
            </a:r>
            <a:endParaRPr/>
          </a:p>
        </p:txBody>
      </p:sp>
      <p:sp>
        <p:nvSpPr>
          <p:cNvPr id="101" name="Google Shape;101;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Assess and clean raw Argos telemetry data to address sampling gaps and location error</a:t>
            </a:r>
            <a:endParaRPr/>
          </a:p>
          <a:p>
            <a:pPr indent="-342900" lvl="0" marL="457200" rtl="0" algn="l">
              <a:spcBef>
                <a:spcPts val="0"/>
              </a:spcBef>
              <a:spcAft>
                <a:spcPts val="0"/>
              </a:spcAft>
              <a:buSzPts val="1800"/>
              <a:buAutoNum type="arabicPeriod"/>
            </a:pPr>
            <a:r>
              <a:rPr lang="en"/>
              <a:t>Fit state-space movement models(i.e. </a:t>
            </a:r>
            <a:r>
              <a:rPr lang="en"/>
              <a:t>c</a:t>
            </a:r>
            <a:r>
              <a:rPr lang="en"/>
              <a:t>orrelated random walk) to reconstruct continuous latent movement tracks using AniMotum package in R</a:t>
            </a:r>
            <a:endParaRPr/>
          </a:p>
          <a:p>
            <a:pPr indent="-342900" lvl="0" marL="457200" rtl="0" algn="l">
              <a:spcBef>
                <a:spcPts val="0"/>
              </a:spcBef>
              <a:spcAft>
                <a:spcPts val="0"/>
              </a:spcAft>
              <a:buSzPts val="1800"/>
              <a:buAutoNum type="arabicPeriod"/>
            </a:pPr>
            <a:r>
              <a:rPr lang="en"/>
              <a:t>Perform diagnostic checks to evaluate model adequacy and quantify uncertainty</a:t>
            </a:r>
            <a:endParaRPr/>
          </a:p>
          <a:p>
            <a:pPr indent="-342900" lvl="0" marL="457200" rtl="0" algn="l">
              <a:spcBef>
                <a:spcPts val="0"/>
              </a:spcBef>
              <a:spcAft>
                <a:spcPts val="0"/>
              </a:spcAft>
              <a:buSzPts val="1800"/>
              <a:buAutoNum type="arabicPeriod"/>
            </a:pPr>
            <a:r>
              <a:rPr lang="en"/>
              <a:t>Fit a move persistence model to estimate time-varying movement persistence</a:t>
            </a:r>
            <a:endParaRPr/>
          </a:p>
          <a:p>
            <a:pPr indent="-342900" lvl="0" marL="457200" rtl="0" algn="l">
              <a:spcBef>
                <a:spcPts val="0"/>
              </a:spcBef>
              <a:spcAft>
                <a:spcPts val="0"/>
              </a:spcAft>
              <a:buSzPts val="1800"/>
              <a:buAutoNum type="arabicPeriod"/>
            </a:pPr>
            <a:r>
              <a:rPr lang="en"/>
              <a:t>Extract latent movement tracks and persistence estimates into a final dataset</a:t>
            </a:r>
            <a:endParaRPr/>
          </a:p>
          <a:p>
            <a:pPr indent="-342900" lvl="0" marL="457200" rtl="0" algn="l">
              <a:spcBef>
                <a:spcPts val="0"/>
              </a:spcBef>
              <a:spcAft>
                <a:spcPts val="0"/>
              </a:spcAft>
              <a:buSzPts val="1800"/>
              <a:buAutoNum type="arabicPeriod"/>
            </a:pPr>
            <a:r>
              <a:rPr lang="en"/>
              <a:t>Map reconstructed movement patterns to explore spatial and temporal variation in persistence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b="1" sz="4200"/>
          </a:p>
          <a:p>
            <a:pPr indent="0" lvl="0" marL="0" rtl="0" algn="l">
              <a:spcBef>
                <a:spcPts val="0"/>
              </a:spcBef>
              <a:spcAft>
                <a:spcPts val="0"/>
              </a:spcAft>
              <a:buNone/>
            </a:pPr>
            <a:r>
              <a:rPr lang="en"/>
              <a:t>Results</a:t>
            </a:r>
            <a:endParaRPr sz="4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261250" y="2936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Predicted Movement Tracks by Individual</a:t>
            </a:r>
            <a:endParaRPr/>
          </a:p>
        </p:txBody>
      </p:sp>
      <p:pic>
        <p:nvPicPr>
          <p:cNvPr id="112" name="Google Shape;112;p20"/>
          <p:cNvPicPr preferRelativeResize="0"/>
          <p:nvPr/>
        </p:nvPicPr>
        <p:blipFill>
          <a:blip r:embed="rId3">
            <a:alphaModFix/>
          </a:blip>
          <a:stretch>
            <a:fillRect/>
          </a:stretch>
        </p:blipFill>
        <p:spPr>
          <a:xfrm>
            <a:off x="316325" y="866350"/>
            <a:ext cx="3417481" cy="4124751"/>
          </a:xfrm>
          <a:prstGeom prst="rect">
            <a:avLst/>
          </a:prstGeom>
          <a:noFill/>
          <a:ln cap="flat" cmpd="sng" w="9525">
            <a:solidFill>
              <a:schemeClr val="dk2"/>
            </a:solidFill>
            <a:prstDash val="solid"/>
            <a:round/>
            <a:headEnd len="sm" w="sm" type="none"/>
            <a:tailEnd len="sm" w="sm" type="none"/>
          </a:ln>
        </p:spPr>
      </p:pic>
      <p:pic>
        <p:nvPicPr>
          <p:cNvPr id="113" name="Google Shape;113;p20"/>
          <p:cNvPicPr preferRelativeResize="0"/>
          <p:nvPr/>
        </p:nvPicPr>
        <p:blipFill>
          <a:blip r:embed="rId4">
            <a:alphaModFix/>
          </a:blip>
          <a:stretch>
            <a:fillRect/>
          </a:stretch>
        </p:blipFill>
        <p:spPr>
          <a:xfrm>
            <a:off x="4024325" y="905939"/>
            <a:ext cx="4830125" cy="1665811"/>
          </a:xfrm>
          <a:prstGeom prst="rect">
            <a:avLst/>
          </a:prstGeom>
          <a:noFill/>
          <a:ln cap="flat" cmpd="sng" w="9525">
            <a:solidFill>
              <a:schemeClr val="dk2"/>
            </a:solidFill>
            <a:prstDash val="solid"/>
            <a:round/>
            <a:headEnd len="sm" w="sm" type="none"/>
            <a:tailEnd len="sm" w="sm" type="none"/>
          </a:ln>
        </p:spPr>
      </p:pic>
      <p:sp>
        <p:nvSpPr>
          <p:cNvPr id="114" name="Google Shape;114;p20"/>
          <p:cNvSpPr txBox="1"/>
          <p:nvPr/>
        </p:nvSpPr>
        <p:spPr>
          <a:xfrm>
            <a:off x="3963488" y="3171825"/>
            <a:ext cx="4951800" cy="14001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342900" lvl="0" marL="457200" rtl="0" algn="l">
              <a:spcBef>
                <a:spcPts val="0"/>
              </a:spcBef>
              <a:spcAft>
                <a:spcPts val="0"/>
              </a:spcAft>
              <a:buClr>
                <a:schemeClr val="accent3"/>
              </a:buClr>
              <a:buSzPts val="1800"/>
              <a:buFont typeface="Proxima Nova"/>
              <a:buChar char="●"/>
            </a:pPr>
            <a:r>
              <a:rPr lang="en" sz="1800">
                <a:solidFill>
                  <a:schemeClr val="accent3"/>
                </a:solidFill>
                <a:latin typeface="Proxima Nova"/>
                <a:ea typeface="Proxima Nova"/>
                <a:cs typeface="Proxima Nova"/>
                <a:sym typeface="Proxima Nova"/>
              </a:rPr>
              <a:t>Colors distinguish individual shark</a:t>
            </a:r>
            <a:endParaRPr sz="1800">
              <a:solidFill>
                <a:schemeClr val="accent3"/>
              </a:solidFill>
              <a:latin typeface="Proxima Nova"/>
              <a:ea typeface="Proxima Nova"/>
              <a:cs typeface="Proxima Nova"/>
              <a:sym typeface="Proxima Nova"/>
            </a:endParaRPr>
          </a:p>
          <a:p>
            <a:pPr indent="-342900" lvl="0" marL="457200" rtl="0" algn="l">
              <a:spcBef>
                <a:spcPts val="0"/>
              </a:spcBef>
              <a:spcAft>
                <a:spcPts val="0"/>
              </a:spcAft>
              <a:buClr>
                <a:schemeClr val="accent3"/>
              </a:buClr>
              <a:buSzPts val="1800"/>
              <a:buFont typeface="Proxima Nova"/>
              <a:buChar char="●"/>
            </a:pPr>
            <a:r>
              <a:rPr lang="en" sz="1800">
                <a:solidFill>
                  <a:schemeClr val="accent3"/>
                </a:solidFill>
                <a:latin typeface="Proxima Nova"/>
                <a:ea typeface="Proxima Nova"/>
                <a:cs typeface="Proxima Nova"/>
                <a:sym typeface="Proxima Nova"/>
              </a:rPr>
              <a:t>Tracks are reconstructed at regular time-fixed 24-hour intervals using the Movement Persistence Model</a:t>
            </a:r>
            <a:endParaRPr sz="1800">
              <a:solidFill>
                <a:schemeClr val="accent3"/>
              </a:solidFill>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1"/>
          <p:cNvSpPr txBox="1"/>
          <p:nvPr>
            <p:ph type="title"/>
          </p:nvPr>
        </p:nvSpPr>
        <p:spPr>
          <a:xfrm>
            <a:off x="311700" y="334000"/>
            <a:ext cx="8755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Representative tracks coloured by movement persistence</a:t>
            </a:r>
            <a:endParaRPr/>
          </a:p>
        </p:txBody>
      </p:sp>
      <p:pic>
        <p:nvPicPr>
          <p:cNvPr id="120" name="Google Shape;120;p21"/>
          <p:cNvPicPr preferRelativeResize="0"/>
          <p:nvPr/>
        </p:nvPicPr>
        <p:blipFill>
          <a:blip r:embed="rId3">
            <a:alphaModFix/>
          </a:blip>
          <a:stretch>
            <a:fillRect/>
          </a:stretch>
        </p:blipFill>
        <p:spPr>
          <a:xfrm>
            <a:off x="1711700" y="1003475"/>
            <a:ext cx="5651625" cy="39876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2"/>
          <p:cNvSpPr txBox="1"/>
          <p:nvPr>
            <p:ph type="title"/>
          </p:nvPr>
        </p:nvSpPr>
        <p:spPr>
          <a:xfrm>
            <a:off x="509500" y="0"/>
            <a:ext cx="8384400" cy="4883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b="1" sz="4200"/>
          </a:p>
          <a:p>
            <a:pPr indent="0" lvl="0" marL="0" rtl="0" algn="l">
              <a:spcBef>
                <a:spcPts val="0"/>
              </a:spcBef>
              <a:spcAft>
                <a:spcPts val="0"/>
              </a:spcAft>
              <a:buNone/>
            </a:pPr>
            <a:r>
              <a:rPr lang="en"/>
              <a:t>Current Stage </a:t>
            </a:r>
            <a:endParaRPr/>
          </a:p>
          <a:p>
            <a:pPr indent="0" lvl="0" marL="0" rtl="0" algn="l">
              <a:spcBef>
                <a:spcPts val="0"/>
              </a:spcBef>
              <a:spcAft>
                <a:spcPts val="0"/>
              </a:spcAft>
              <a:buNone/>
            </a:pPr>
            <a:r>
              <a:rPr lang="en"/>
              <a:t>&amp;</a:t>
            </a:r>
            <a:endParaRPr/>
          </a:p>
          <a:p>
            <a:pPr indent="0" lvl="0" marL="0" rtl="0" algn="l">
              <a:spcBef>
                <a:spcPts val="0"/>
              </a:spcBef>
              <a:spcAft>
                <a:spcPts val="0"/>
              </a:spcAft>
              <a:buNone/>
            </a:pPr>
            <a:r>
              <a:rPr lang="en"/>
              <a:t>Next Steps </a:t>
            </a:r>
            <a:endParaRPr sz="4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type="title"/>
          </p:nvPr>
        </p:nvSpPr>
        <p:spPr>
          <a:xfrm>
            <a:off x="311700" y="433150"/>
            <a:ext cx="8520600" cy="517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Current </a:t>
            </a:r>
            <a:r>
              <a:rPr lang="en"/>
              <a:t>Stage </a:t>
            </a:r>
            <a:endParaRPr/>
          </a:p>
        </p:txBody>
      </p:sp>
      <p:sp>
        <p:nvSpPr>
          <p:cNvPr id="131" name="Google Shape;131;p23"/>
          <p:cNvSpPr txBox="1"/>
          <p:nvPr>
            <p:ph idx="1" type="body"/>
          </p:nvPr>
        </p:nvSpPr>
        <p:spPr>
          <a:xfrm>
            <a:off x="311700" y="1116525"/>
            <a:ext cx="8520600" cy="1174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State Space and Move P</a:t>
            </a:r>
            <a:r>
              <a:rPr lang="en"/>
              <a:t>ersistence Models fitted and validated</a:t>
            </a:r>
            <a:endParaRPr/>
          </a:p>
          <a:p>
            <a:pPr indent="-342900" lvl="0" marL="457200" rtl="0" algn="l">
              <a:spcBef>
                <a:spcPts val="0"/>
              </a:spcBef>
              <a:spcAft>
                <a:spcPts val="0"/>
              </a:spcAft>
              <a:buSzPts val="1800"/>
              <a:buChar char="●"/>
            </a:pPr>
            <a:r>
              <a:rPr lang="en"/>
              <a:t>Latent movement tracks and time-varying persistence extracted</a:t>
            </a:r>
            <a:endParaRPr/>
          </a:p>
          <a:p>
            <a:pPr indent="-342900" lvl="0" marL="457200" rtl="0" algn="l">
              <a:spcBef>
                <a:spcPts val="0"/>
              </a:spcBef>
              <a:spcAft>
                <a:spcPts val="0"/>
              </a:spcAft>
              <a:buSzPts val="1800"/>
              <a:buChar char="●"/>
            </a:pPr>
            <a:r>
              <a:rPr lang="en"/>
              <a:t>Preliminary visualizations completed</a:t>
            </a:r>
            <a:endParaRPr/>
          </a:p>
        </p:txBody>
      </p:sp>
      <p:sp>
        <p:nvSpPr>
          <p:cNvPr id="132" name="Google Shape;132;p23"/>
          <p:cNvSpPr txBox="1"/>
          <p:nvPr/>
        </p:nvSpPr>
        <p:spPr>
          <a:xfrm>
            <a:off x="311700" y="2752825"/>
            <a:ext cx="45432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chemeClr val="dk1"/>
                </a:solidFill>
                <a:latin typeface="Proxima Nova"/>
                <a:ea typeface="Proxima Nova"/>
                <a:cs typeface="Proxima Nova"/>
                <a:sym typeface="Proxima Nova"/>
              </a:rPr>
              <a:t>Next Steps</a:t>
            </a:r>
            <a:endParaRPr sz="1500">
              <a:solidFill>
                <a:schemeClr val="accent3"/>
              </a:solidFill>
              <a:latin typeface="Proxima Nova"/>
              <a:ea typeface="Proxima Nova"/>
              <a:cs typeface="Proxima Nova"/>
              <a:sym typeface="Proxima Nova"/>
            </a:endParaRPr>
          </a:p>
        </p:txBody>
      </p:sp>
      <p:sp>
        <p:nvSpPr>
          <p:cNvPr id="133" name="Google Shape;133;p23"/>
          <p:cNvSpPr txBox="1"/>
          <p:nvPr/>
        </p:nvSpPr>
        <p:spPr>
          <a:xfrm>
            <a:off x="311700" y="3325525"/>
            <a:ext cx="7093800" cy="14823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accent3"/>
              </a:buClr>
              <a:buSzPts val="1800"/>
              <a:buFont typeface="Proxima Nova"/>
              <a:buChar char="●"/>
            </a:pPr>
            <a:r>
              <a:rPr lang="en" sz="1800">
                <a:solidFill>
                  <a:schemeClr val="accent3"/>
                </a:solidFill>
                <a:latin typeface="Proxima Nova"/>
                <a:ea typeface="Proxima Nova"/>
                <a:cs typeface="Proxima Nova"/>
                <a:sym typeface="Proxima Nova"/>
              </a:rPr>
              <a:t>Explore alternative time steps for movement reconstruction</a:t>
            </a:r>
            <a:endParaRPr sz="1800">
              <a:solidFill>
                <a:schemeClr val="accent3"/>
              </a:solidFill>
              <a:latin typeface="Proxima Nova"/>
              <a:ea typeface="Proxima Nova"/>
              <a:cs typeface="Proxima Nova"/>
              <a:sym typeface="Proxima Nova"/>
            </a:endParaRPr>
          </a:p>
          <a:p>
            <a:pPr indent="-342900" lvl="0" marL="457200" rtl="0" algn="l">
              <a:spcBef>
                <a:spcPts val="0"/>
              </a:spcBef>
              <a:spcAft>
                <a:spcPts val="0"/>
              </a:spcAft>
              <a:buClr>
                <a:schemeClr val="accent3"/>
              </a:buClr>
              <a:buSzPts val="1800"/>
              <a:buFont typeface="Proxima Nova"/>
              <a:buChar char="●"/>
            </a:pPr>
            <a:r>
              <a:rPr lang="en" sz="1800">
                <a:solidFill>
                  <a:schemeClr val="accent3"/>
                </a:solidFill>
                <a:latin typeface="Proxima Nova"/>
                <a:ea typeface="Proxima Nova"/>
                <a:cs typeface="Proxima Nova"/>
                <a:sym typeface="Proxima Nova"/>
              </a:rPr>
              <a:t>Assess individual-level heterogeneity and uncertainty</a:t>
            </a:r>
            <a:endParaRPr sz="1800">
              <a:solidFill>
                <a:schemeClr val="accent3"/>
              </a:solidFill>
              <a:latin typeface="Proxima Nova"/>
              <a:ea typeface="Proxima Nova"/>
              <a:cs typeface="Proxima Nova"/>
              <a:sym typeface="Proxima Nova"/>
            </a:endParaRPr>
          </a:p>
          <a:p>
            <a:pPr indent="-342900" lvl="0" marL="457200" rtl="0" algn="l">
              <a:spcBef>
                <a:spcPts val="0"/>
              </a:spcBef>
              <a:spcAft>
                <a:spcPts val="0"/>
              </a:spcAft>
              <a:buClr>
                <a:schemeClr val="accent3"/>
              </a:buClr>
              <a:buSzPts val="1800"/>
              <a:buFont typeface="Proxima Nova"/>
              <a:buChar char="●"/>
            </a:pPr>
            <a:r>
              <a:rPr lang="en" sz="1800">
                <a:solidFill>
                  <a:schemeClr val="accent3"/>
                </a:solidFill>
                <a:latin typeface="Proxima Nova"/>
                <a:ea typeface="Proxima Nova"/>
                <a:cs typeface="Proxima Nova"/>
                <a:sym typeface="Proxima Nova"/>
              </a:rPr>
              <a:t>Incorporate environmental covariates into persistence modelling</a:t>
            </a:r>
            <a:endParaRPr sz="1800">
              <a:solidFill>
                <a:schemeClr val="accent3"/>
              </a:solidFill>
              <a:latin typeface="Proxima Nova"/>
              <a:ea typeface="Proxima Nova"/>
              <a:cs typeface="Proxima Nova"/>
              <a:sym typeface="Proxima Nova"/>
            </a:endParaRPr>
          </a:p>
          <a:p>
            <a:pPr indent="0" lvl="0" marL="457200" rtl="0" algn="l">
              <a:spcBef>
                <a:spcPts val="0"/>
              </a:spcBef>
              <a:spcAft>
                <a:spcPts val="0"/>
              </a:spcAft>
              <a:buNone/>
            </a:pPr>
            <a:r>
              <a:t/>
            </a:r>
            <a:endParaRPr sz="1800">
              <a:solidFill>
                <a:schemeClr val="accent3"/>
              </a:solidFill>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